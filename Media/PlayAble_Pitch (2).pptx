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slide. Introduce the team and the mission of PlayAble. Emphasize the inclusive vision.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2d6e224b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f2d6e224b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slide. Introduce the team and the mission of PlayAble. Emphasize the inclusive vision.</a:t>
            </a:r>
            <a:endParaRPr/>
          </a:p>
        </p:txBody>
      </p:sp>
      <p:sp>
        <p:nvSpPr>
          <p:cNvPr id="22" name="Google Shape;22;g3f2d6e224b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the team members by name. Explain how each person's background is critical to PlayAble's mission.</a:t>
            </a:r>
            <a:endParaRPr/>
          </a:p>
        </p:txBody>
      </p:sp>
      <p:sp>
        <p:nvSpPr>
          <p:cNvPr id="33" name="Google Shape;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 the educational gap for children with special needs, particularly those with Cerebral Palsy. Mention Anya as the inspiration.</a:t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Tell Anya's story. She is the human face of our mission. This slide builds emotional connection with the audience.</a:t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four pillars of the PlayAble platform. Highlight the ESP32 hardware integration as our unique differentiator.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tech stack. Emphasize the seamless connection between the ESP32 hardware and the web app.</a:t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Demonstrate the end-to-end flow. Use a live demo if possible during the presentation.</a:t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 progress update. Show momentum. Emphasize the active development phase and what has been completed vs in progress.</a:t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2d6e224b5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2d6e224b5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 progress update. Show momentum. Emphasize the active development phase and what has been completed vs in progress.</a:t>
            </a:r>
            <a:endParaRPr/>
          </a:p>
        </p:txBody>
      </p:sp>
      <p:sp>
        <p:nvSpPr>
          <p:cNvPr id="201" name="Google Shape;201;g3f2d6e224b5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the large and growing market. Focus on the CP segment being underserved by existing solutions.</a:t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passion. Invite the audience to be part of PlayAble's journey — whether as investors, school partners, or advisors. End with Anya's story.</a:t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47920">
              <a:alpha val="20000"/>
            </a:srgbClr>
          </a:solidFill>
          <a:ln cap="flat" cmpd="sng" w="12700">
            <a:solidFill>
              <a:srgbClr val="F4792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73C8">
              <a:alpha val="20000"/>
            </a:srgbClr>
          </a:solidFill>
          <a:ln cap="flat" cmpd="sng" w="12700">
            <a:solidFill>
              <a:srgbClr val="1A73C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Symbolic-logo-remove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00" y="76200"/>
            <a:ext cx="7560426" cy="46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47920">
              <a:alpha val="20000"/>
            </a:srgbClr>
          </a:solidFill>
          <a:ln cap="flat" cmpd="sng" w="12700">
            <a:solidFill>
              <a:srgbClr val="F4792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A73C8">
              <a:alpha val="20000"/>
            </a:srgbClr>
          </a:solidFill>
          <a:ln cap="flat" cmpd="sng" w="12700">
            <a:solidFill>
              <a:srgbClr val="1A73C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926080" y="2788920"/>
            <a:ext cx="3291900" cy="502800"/>
          </a:xfrm>
          <a:prstGeom prst="roundRect">
            <a:avLst>
              <a:gd fmla="val 18182" name="adj"/>
            </a:avLst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926080" y="2788920"/>
            <a:ext cx="329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STARTUP PITCH DECK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35204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D4E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D4EF"/>
                </a:solidFill>
                <a:latin typeface="Calibri"/>
                <a:ea typeface="Calibri"/>
                <a:cs typeface="Calibri"/>
                <a:sym typeface="Calibri"/>
              </a:rPr>
              <a:t>Empowering Every Child to Learn &amp; Play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" title="Text-logo-remove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3937" y="222875"/>
            <a:ext cx="4856175" cy="24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Team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65750" y="1096800"/>
            <a:ext cx="3629400" cy="3875400"/>
          </a:xfrm>
          <a:prstGeom prst="roundRect">
            <a:avLst>
              <a:gd fmla="val 14706" name="adj"/>
            </a:avLst>
          </a:prstGeom>
          <a:solidFill>
            <a:srgbClr val="F4F8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020872" y="1262800"/>
            <a:ext cx="2475300" cy="2287500"/>
          </a:xfrm>
          <a:prstGeom prst="ellipse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292100" y="3715500"/>
            <a:ext cx="37767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2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QIES SLOULIN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057400" y="1167250"/>
            <a:ext cx="3629400" cy="3875400"/>
          </a:xfrm>
          <a:prstGeom prst="roundRect">
            <a:avLst>
              <a:gd fmla="val 14706" name="adj"/>
            </a:avLst>
          </a:prstGeom>
          <a:solidFill>
            <a:srgbClr val="F4F8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5006500" y="3715500"/>
            <a:ext cx="37767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2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Soham Phansalkar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4225" y="1262800"/>
            <a:ext cx="2840400" cy="2877300"/>
          </a:xfrm>
          <a:prstGeom prst="flowChartConnector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3" name="Google Shape;4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100" y="1167250"/>
            <a:ext cx="2924100" cy="28773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44" name="Google Shape;44;p5"/>
          <p:cNvCxnSpPr/>
          <p:nvPr/>
        </p:nvCxnSpPr>
        <p:spPr>
          <a:xfrm>
            <a:off x="4535200" y="1237725"/>
            <a:ext cx="0" cy="36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65760" y="1188720"/>
            <a:ext cx="2560320" cy="338328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1280060" y="1480775"/>
            <a:ext cx="731400" cy="731400"/>
          </a:xfrm>
          <a:prstGeom prst="ellipse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317650" y="2687225"/>
            <a:ext cx="29742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 in 6 children in the US</a:t>
            </a:r>
            <a:r>
              <a:rPr lang="en-US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has a</a:t>
            </a:r>
            <a:r>
              <a:rPr lang="en-US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developmental disability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17660" y="2377445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3C8"/>
              </a:buClr>
              <a:buSzPts val="1100"/>
              <a:buFont typeface="Calibri"/>
              <a:buNone/>
            </a:pPr>
            <a:r>
              <a:rPr b="1" i="0" lang="en-US" sz="2100" u="none" cap="none" strike="noStrike">
                <a:solidFill>
                  <a:srgbClr val="1A73C8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3291840" y="1188720"/>
            <a:ext cx="2560200" cy="33834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4171040" y="1481825"/>
            <a:ext cx="731400" cy="731400"/>
          </a:xfrm>
          <a:prstGeom prst="ellipse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3221400" y="2780675"/>
            <a:ext cx="26307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Existing educational tools rarely adapt to children with Cerebral Palsy or similar conditions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291840" y="237730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100"/>
              <a:buFont typeface="Calibri"/>
              <a:buNone/>
            </a:pPr>
            <a:r>
              <a:rPr b="1" i="0" lang="en-US" sz="21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Gap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217920" y="1188720"/>
            <a:ext cx="2560320" cy="338328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132320" y="1430325"/>
            <a:ext cx="731400" cy="731400"/>
          </a:xfrm>
          <a:prstGeom prst="ellipse">
            <a:avLst/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217925" y="2780674"/>
            <a:ext cx="25602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2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Traditional classrooms lack personalized, tech-driven interaction for special needs kids</a:t>
            </a:r>
            <a:endParaRPr sz="20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217820" y="2377383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100"/>
              <a:buFont typeface="Calibri"/>
              <a:buNone/>
            </a:pPr>
            <a:r>
              <a:rPr b="1" i="0" lang="en-US" sz="21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274320" y="4572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Anya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274320" y="10515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F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8C5F0"/>
                </a:solidFill>
                <a:latin typeface="Calibri"/>
                <a:ea typeface="Calibri"/>
                <a:cs typeface="Calibri"/>
                <a:sym typeface="Calibri"/>
              </a:rPr>
              <a:t>Our Inspiration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00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/>
          <p:nvPr/>
        </p:nvSpPr>
        <p:spPr>
          <a:xfrm>
            <a:off x="960120" y="162763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Anya has Cerebral Palsy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274320" y="228600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She loves learning but struggles with: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Standard input devices (mouse/keyboard)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One-size-fits-all educational software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Lack of adaptive, engaging tools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PlayAble was built with Anya in mind — and for every child like 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0" y="548640"/>
            <a:ext cx="4114800" cy="4023360"/>
          </a:xfrm>
          <a:prstGeom prst="roundRect">
            <a:avLst>
              <a:gd fmla="val 3409" name="adj"/>
            </a:avLst>
          </a:prstGeom>
          <a:solidFill>
            <a:srgbClr val="F4F8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4754880" y="7315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Cerebral Palsy Facts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663440" y="1234440"/>
            <a:ext cx="39319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754880" y="130759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~17M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806440" y="13258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people worldwide have 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663440" y="2039112"/>
            <a:ext cx="39319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4754880" y="2112264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1 in 345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806440" y="213055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children in the US is diagnosed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663440" y="2843784"/>
            <a:ext cx="39319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754880" y="2916936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Lifelong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806440" y="293522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condition — early learning is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663440" y="3648456"/>
            <a:ext cx="39319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754880" y="3721608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806440" y="373989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adaptive Educational Tech tools exist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 adaptive educational platform combining physical hardware with smart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365760" y="1783080"/>
            <a:ext cx="4023360" cy="132588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502920" y="2057400"/>
            <a:ext cx="640080" cy="640080"/>
          </a:xfrm>
          <a:prstGeom prst="ellipse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1280160" y="1874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Smart Web 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280149" y="2240275"/>
            <a:ext cx="3219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Personalized learning modules, adaptive UI designed for children with motor challenges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754880" y="1783080"/>
            <a:ext cx="4023360" cy="132588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4892040" y="2057400"/>
            <a:ext cx="640080" cy="640080"/>
          </a:xfrm>
          <a:prstGeom prst="ellipse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5669280" y="1874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ESP32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669280" y="22402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Custom physical controller connected via IoT — enabling intuitive interaction for limited-mobility users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65760" y="3337560"/>
            <a:ext cx="4023360" cy="132588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02920" y="3611880"/>
            <a:ext cx="640080" cy="640080"/>
          </a:xfrm>
          <a:prstGeom prst="ellipse">
            <a:avLst/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1280160" y="3429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Adaptive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280160" y="37947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Content adjusts in real-time to child's pace, ability, and engagement patterns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754880" y="3337560"/>
            <a:ext cx="4023360" cy="1325880"/>
          </a:xfrm>
          <a:prstGeom prst="roundRect">
            <a:avLst>
              <a:gd fmla="val 8276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4892040" y="3611880"/>
            <a:ext cx="640080" cy="64008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5669280" y="3429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Child-Centered UX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669280" y="379476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Colorful, joyful interface built with accessibility standards (WCAG) and inclusive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274320" y="1143000"/>
            <a:ext cx="3931920" cy="3657600"/>
          </a:xfrm>
          <a:prstGeom prst="roundRect">
            <a:avLst>
              <a:gd fmla="val 3000" name="adj"/>
            </a:avLst>
          </a:prstGeom>
          <a:solidFill>
            <a:srgbClr val="F4F8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36576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3C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73C8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48640" y="17373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Web Application (React / HTML5)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48640" y="230428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Responsive &amp; Accessible UI (WCAG)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48640" y="287121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Real-time Adaptive Content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343814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User Progress Analytics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48640" y="400507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Cloud-hosted Backend &amp;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937760" y="1143000"/>
            <a:ext cx="3931920" cy="3657600"/>
          </a:xfrm>
          <a:prstGeom prst="roundRect">
            <a:avLst>
              <a:gd fmla="val 3000" name="adj"/>
            </a:avLst>
          </a:prstGeom>
          <a:solidFill>
            <a:srgbClr val="FFF7F0"/>
          </a:solidFill>
          <a:ln cap="flat" cmpd="sng" w="12700">
            <a:solidFill>
              <a:srgbClr val="FFD9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02920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120640" y="17373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ESP32 Microcontroller (Wi-Fi + BT)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120640" y="230428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Custom Adaptive Input Device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120640" y="287121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Real-time Sensor Data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120640" y="343814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OTA (Over-the-Air) Firmware Updates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120640" y="400507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Low-latency Hardware↔Software Bridge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977640" y="2560320"/>
            <a:ext cx="1188720" cy="118872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3977640" y="256032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274320" y="1188720"/>
            <a:ext cx="1920240" cy="34747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868680" y="1371600"/>
            <a:ext cx="731520" cy="731520"/>
          </a:xfrm>
          <a:prstGeom prst="ellipse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868680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65760" y="22860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Child Uses Device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91936" y="2834700"/>
            <a:ext cx="2085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Anya interacts with the ESP32 controller custom buttons, switches, or sensors matched to her 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2194560" y="169164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A73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9" name="Google Shape;149;p10"/>
          <p:cNvSpPr/>
          <p:nvPr/>
        </p:nvSpPr>
        <p:spPr>
          <a:xfrm>
            <a:off x="2450592" y="1188720"/>
            <a:ext cx="1920240" cy="34747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3044952" y="1371600"/>
            <a:ext cx="731520" cy="731520"/>
          </a:xfrm>
          <a:prstGeom prst="ellipse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3044952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2542032" y="22860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Signal Sent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542024" y="2834650"/>
            <a:ext cx="1940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ESP32 transmits interaction data wirelessly to the web application in real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0"/>
          <p:cNvCxnSpPr/>
          <p:nvPr/>
        </p:nvCxnSpPr>
        <p:spPr>
          <a:xfrm>
            <a:off x="4370832" y="169164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A73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" name="Google Shape;155;p10"/>
          <p:cNvSpPr/>
          <p:nvPr/>
        </p:nvSpPr>
        <p:spPr>
          <a:xfrm>
            <a:off x="4626864" y="1188720"/>
            <a:ext cx="1920240" cy="34747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221224" y="1371600"/>
            <a:ext cx="731520" cy="731520"/>
          </a:xfrm>
          <a:prstGeom prst="ellipse">
            <a:avLst/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5221224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718304" y="22860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App Responds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718300" y="2834650"/>
            <a:ext cx="1940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web app processes inputs, advances the learning activity, and adapts difficulty accordingly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0"/>
          <p:cNvCxnSpPr/>
          <p:nvPr/>
        </p:nvCxnSpPr>
        <p:spPr>
          <a:xfrm>
            <a:off x="6547104" y="1691640"/>
            <a:ext cx="256032" cy="0"/>
          </a:xfrm>
          <a:prstGeom prst="straightConnector1">
            <a:avLst/>
          </a:prstGeom>
          <a:noFill/>
          <a:ln cap="flat" cmpd="sng" w="25400">
            <a:solidFill>
              <a:srgbClr val="1A73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1" name="Google Shape;161;p10"/>
          <p:cNvSpPr/>
          <p:nvPr/>
        </p:nvSpPr>
        <p:spPr>
          <a:xfrm>
            <a:off x="6803136" y="1188720"/>
            <a:ext cx="1920240" cy="34747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7397496" y="1371600"/>
            <a:ext cx="731520" cy="73152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7397496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894576" y="22860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Progress Tracked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894575" y="2834650"/>
            <a:ext cx="1940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Parents and educators receive a dashboard update showing engagement, progress, and achievements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We Are Now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Project Status: Active Development  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57200" y="16916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Company Concept &amp; Branding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114800" y="1783080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4114800" y="1783080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5DB846"/>
          </a:solidFill>
          <a:ln cap="flat" cmpd="sng" w="12700">
            <a:solidFill>
              <a:srgbClr val="5DB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8321040" y="169164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DB846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2221992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Website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114800" y="2313432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4114800" y="2313432"/>
            <a:ext cx="2674620" cy="256032"/>
          </a:xfrm>
          <a:prstGeom prst="roundRect">
            <a:avLst>
              <a:gd fmla="val 25000" name="adj"/>
            </a:avLst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8321040" y="2221992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57200" y="2752344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ESP32 Hardware Prototyping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114800" y="2843784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114800" y="2843784"/>
            <a:ext cx="2057400" cy="256032"/>
          </a:xfrm>
          <a:prstGeom prst="roundRect">
            <a:avLst>
              <a:gd fmla="val 25000" name="adj"/>
            </a:avLst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8321040" y="2752344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57200" y="3282696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Software–Hardware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114800" y="3374136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4114800" y="3374136"/>
            <a:ext cx="1234440" cy="256032"/>
          </a:xfrm>
          <a:prstGeom prst="roundRect">
            <a:avLst>
              <a:gd fmla="val 25000" name="adj"/>
            </a:avLst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321040" y="3282696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57200" y="3813048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Pilot Testing with Anya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4114800" y="3904488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4114800" y="3904488"/>
            <a:ext cx="411480" cy="256032"/>
          </a:xfrm>
          <a:prstGeom prst="roundRect">
            <a:avLst>
              <a:gd fmla="val 25000" name="adj"/>
            </a:avLst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8321040" y="381304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7200" y="4343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Beta Launch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114800" y="4434840"/>
            <a:ext cx="4114800" cy="256032"/>
          </a:xfrm>
          <a:prstGeom prst="roundRect">
            <a:avLst>
              <a:gd fmla="val 25000" name="adj"/>
            </a:avLst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4114800" y="4434840"/>
            <a:ext cx="45720" cy="256032"/>
          </a:xfrm>
          <a:prstGeom prst="roundRect">
            <a:avLst>
              <a:gd fmla="val 140000" name="adj"/>
            </a:avLst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8321040" y="434340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A73C8"/>
          </a:solidFill>
          <a:ln cap="flat" cmpd="sng" w="12700">
            <a:solidFill>
              <a:srgbClr val="1A7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57200" y="9144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Circuit Diagram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775" y="1064350"/>
            <a:ext cx="7175075" cy="39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7920"/>
          </a:solidFill>
          <a:ln cap="flat" cmpd="sng" w="127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365760" y="1143000"/>
            <a:ext cx="2560320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365760" y="128016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$15B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6576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Special Ed Tech Market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3200400" y="1143000"/>
            <a:ext cx="2560320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3200400" y="128016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7.6M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20040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 Students with Disabilities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035040" y="1143000"/>
            <a:ext cx="2560320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CE8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6035040" y="128016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92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7920"/>
                </a:solidFill>
                <a:latin typeface="Calibri"/>
                <a:ea typeface="Calibri"/>
                <a:cs typeface="Calibri"/>
                <a:sym typeface="Calibri"/>
              </a:rPr>
              <a:t>34%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035040" y="2057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CAGR in Adaptive EdTech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834640"/>
            <a:ext cx="411480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/>
          <p:nvPr/>
        </p:nvSpPr>
        <p:spPr>
          <a:xfrm>
            <a:off x="4846320" y="2834640"/>
            <a:ext cx="3931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0" i="1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PlayAble targets the underserved segment of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0" i="1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CP &amp; Motor Disability adaptive tools — our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0" i="1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clearest blue ocean in the EdTech space.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73C8">
              <a:alpha val="18039"/>
            </a:srgbClr>
          </a:solidFill>
          <a:ln cap="flat" cmpd="sng" w="12700">
            <a:solidFill>
              <a:srgbClr val="1A73C8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47920">
              <a:alpha val="18039"/>
            </a:srgbClr>
          </a:solidFill>
          <a:ln cap="flat" cmpd="sng" w="12700">
            <a:solidFill>
              <a:srgbClr val="F47920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457250" y="1801080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Join Us in Making Learning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Accessible for Every Child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4"/>
          <p:cNvCxnSpPr/>
          <p:nvPr/>
        </p:nvCxnSpPr>
        <p:spPr>
          <a:xfrm>
            <a:off x="2286000" y="3105970"/>
            <a:ext cx="4572000" cy="0"/>
          </a:xfrm>
          <a:prstGeom prst="straightConnector1">
            <a:avLst/>
          </a:prstGeom>
          <a:noFill/>
          <a:ln cap="flat" cmpd="sng" w="25400">
            <a:solidFill>
              <a:srgbClr val="F479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4"/>
          <p:cNvSpPr/>
          <p:nvPr/>
        </p:nvSpPr>
        <p:spPr>
          <a:xfrm>
            <a:off x="640080" y="3324100"/>
            <a:ext cx="2377500" cy="1554600"/>
          </a:xfrm>
          <a:prstGeom prst="roundRect">
            <a:avLst>
              <a:gd fmla="val 7059" name="adj"/>
            </a:avLst>
          </a:prstGeom>
          <a:solidFill>
            <a:srgbClr val="1A73C8">
              <a:alpha val="30196"/>
            </a:srgbClr>
          </a:solidFill>
          <a:ln cap="flat" cmpd="sng" w="12700">
            <a:solidFill>
              <a:srgbClr val="4A7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640080" y="341554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640080" y="3900172"/>
            <a:ext cx="237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F0"/>
                </a:solidFill>
                <a:latin typeface="Calibri"/>
                <a:ea typeface="Calibri"/>
                <a:cs typeface="Calibri"/>
                <a:sym typeface="Calibri"/>
              </a:rPr>
              <a:t>Fund our MVP launch and pilot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383305" y="3324163"/>
            <a:ext cx="2377500" cy="1554600"/>
          </a:xfrm>
          <a:prstGeom prst="roundRect">
            <a:avLst>
              <a:gd fmla="val 7059" name="adj"/>
            </a:avLst>
          </a:prstGeom>
          <a:solidFill>
            <a:srgbClr val="1A73C8">
              <a:alpha val="30196"/>
            </a:srgbClr>
          </a:solidFill>
          <a:ln cap="flat" cmpd="sng" w="12700">
            <a:solidFill>
              <a:srgbClr val="4A7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3383280" y="341554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3383280" y="3900172"/>
            <a:ext cx="237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F0"/>
                </a:solidFill>
                <a:latin typeface="Calibri"/>
                <a:ea typeface="Calibri"/>
                <a:cs typeface="Calibri"/>
                <a:sym typeface="Calibri"/>
              </a:rPr>
              <a:t>Schools, clinics, and therapy centers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6126480" y="3324100"/>
            <a:ext cx="2377500" cy="1554600"/>
          </a:xfrm>
          <a:prstGeom prst="roundRect">
            <a:avLst>
              <a:gd fmla="val 7059" name="adj"/>
            </a:avLst>
          </a:prstGeom>
          <a:solidFill>
            <a:srgbClr val="1A73C8">
              <a:alpha val="30196"/>
            </a:srgbClr>
          </a:solidFill>
          <a:ln cap="flat" cmpd="sng" w="12700">
            <a:solidFill>
              <a:srgbClr val="4A7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6126480" y="341554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Advise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126480" y="3900172"/>
            <a:ext cx="2377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5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F0"/>
                </a:solidFill>
                <a:latin typeface="Calibri"/>
                <a:ea typeface="Calibri"/>
                <a:cs typeface="Calibri"/>
                <a:sym typeface="Calibri"/>
              </a:rPr>
              <a:t>Special ed experts &amp; accessibility pros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4" title="Symbolic-logo-remove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825" y="76200"/>
            <a:ext cx="3851750" cy="18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